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B88146-8CDC-4CAB-AF75-B1576D1C0D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8D5505-4BA2-47D2-B47F-0AE5CCB1E6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A1711AE-D4C0-445C-A481-63ED4FA2A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CA21B-DC22-4D7A-885F-61848E8E36BB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4316A0-BABE-4176-B39A-68F3BDC8A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B5B203-43E9-446C-9E96-8987D1D40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BCD9-5F87-4C23-8C6B-46AE3A85A3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1932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515854-08D8-41B4-AE4D-6DF3D4769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517346-851C-444F-BEFF-11B2AB4B2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8BDEB9-500E-4A64-9985-600294D8E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CA21B-DC22-4D7A-885F-61848E8E36BB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BC1389-848D-426C-BC39-08CF3E113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0FF928-3A97-4B8F-BF8E-8D40BE6AC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BCD9-5F87-4C23-8C6B-46AE3A85A3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76727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A22156-DEFC-4ED2-A917-D2DF01E9D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61DF8D2-007A-4756-98F5-DAF137F04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10B2E0-F18F-4480-8987-1198AC7F1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CA21B-DC22-4D7A-885F-61848E8E36BB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3DB0C2-DC8E-4D99-AB05-A9E9C715B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C1514A-77F2-4118-98F4-AACDE56F1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BCD9-5F87-4C23-8C6B-46AE3A85A3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4562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6E9F4C-01F4-4261-A4FF-FF2BA39A2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98DE26-D8E3-4670-8890-B99CBBA4F7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898B7F9-5FDB-433D-8831-8959DC3C49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50CCE1B-A165-454F-96F4-8ADA92F2C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CA21B-DC22-4D7A-885F-61848E8E36BB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53664F2-198D-4FF9-9725-2B74DF1C0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ECA579A-6DC7-416D-98F5-C5E02FF3C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BCD9-5F87-4C23-8C6B-46AE3A85A3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42612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963DBF-3EEA-47DA-BC13-C0AD6D43A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06BD2C3-B6F9-4C84-A777-2B1E85AEF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FAA9377-8B45-4325-88E2-4CD3EBDF7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D63308F-D2C1-41FC-948F-D90BE09953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3DA68C4-B3AA-490A-9EB0-99A45A9F8E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698A37E-0016-4547-A6E5-2E5D69B25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CA21B-DC22-4D7A-885F-61848E8E36BB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A8DD4B4-5B53-4791-9829-F45462A21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232059C-B34B-49DD-ABC8-D80E32A38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BCD9-5F87-4C23-8C6B-46AE3A85A3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023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CF3D7C-29DA-43FD-A093-B07398465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D7679C1-D43D-428D-8B69-4E0DB0BA7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CA21B-DC22-4D7A-885F-61848E8E36BB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A0FCD15-AA8E-42BD-977F-020987C83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26D2C48-197C-4E53-9C95-60C415E31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BCD9-5F87-4C23-8C6B-46AE3A85A3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99032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BC5AA67-FBC9-4830-9A2F-158F37709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CA21B-DC22-4D7A-885F-61848E8E36BB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B21C22D-5BC4-4515-ADB8-6B198B2DA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7CC6FF8-8DC6-4452-A50B-8103348ED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BCD9-5F87-4C23-8C6B-46AE3A85A3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80224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3863F5-E885-4B77-BB3C-2674605B1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9007F6-FF51-4706-98C2-5B3452A07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68080F-2231-47B2-ABB4-371C2E85A8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5D7373C-BFFE-4D86-B2FF-99294070B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CA21B-DC22-4D7A-885F-61848E8E36BB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506B111-E62B-4E1A-ABA5-659E3DE1F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9641AC-6176-4AE1-8E56-FFDF20B0C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BCD9-5F87-4C23-8C6B-46AE3A85A3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58969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565912-4E24-4328-9CA3-C97827D81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7A5359F-D032-4524-8703-3E150D1F96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F4E8744-9D59-4307-AA9A-8FCE5604A9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F80D1E7-722F-4FBA-83C6-A6B639A35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CA21B-DC22-4D7A-885F-61848E8E36BB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B436947-9284-4365-B329-F70216111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59B3940-3D52-4123-84A4-F247C67CD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BCD9-5F87-4C23-8C6B-46AE3A85A3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5887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30203C-9B46-48AD-AE15-B95EB5C23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9E82217-D3AA-4444-A814-FCDC87CC5B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62C297-9CA4-458A-B06A-77B5E997B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CA21B-DC22-4D7A-885F-61848E8E36BB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4F0673-6B98-4D8A-911E-E4DDB2DA4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1F47CC-D090-4AD4-84AA-2CCFA900E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BCD9-5F87-4C23-8C6B-46AE3A85A3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5120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6B0423A-7012-4E3C-9764-76B5F41977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21795C-3807-447D-BA49-5967E2CCE9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5A1A4A-C5E0-4A58-9AAE-C8E511746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CA21B-DC22-4D7A-885F-61848E8E36BB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E09971-870A-4387-A504-B0CB4A366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4220F0-2D69-4E29-9B56-E5382876F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BCD9-5F87-4C23-8C6B-46AE3A85A3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46899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1C69890-B868-4750-A590-318DCD0DF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BC2C13-3E3B-4AE5-A0A8-B916A1295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D31A0E-941A-48C3-BB1E-3479B69855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3CA21B-DC22-4D7A-885F-61848E8E36BB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A4C635-17C0-4170-82C7-95FCF838A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DA9A48-B23F-4D26-91F3-F75B8AA791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9BCD9-5F87-4C23-8C6B-46AE3A85A3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45100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11169DA-BBFB-4148-934E-2046A44564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s-MX" sz="7200" b="1" dirty="0">
                <a:latin typeface="Arial" panose="020B0604020202020204" pitchFamily="34" charset="0"/>
                <a:cs typeface="Arial" panose="020B0604020202020204" pitchFamily="34" charset="0"/>
              </a:rPr>
              <a:t>¿Qué es la memoria RAM y cómo la usa un programa?</a:t>
            </a:r>
            <a:endParaRPr lang="es-CO" sz="7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5546F7C-CC97-4A72-9D38-6F25EC116A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s-C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Felipe Londoño Ospina</a:t>
            </a:r>
          </a:p>
          <a:p>
            <a:pPr algn="l"/>
            <a:r>
              <a:rPr lang="es-C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Juan Andrés Vallejo</a:t>
            </a:r>
          </a:p>
          <a:p>
            <a:pPr algn="l"/>
            <a:r>
              <a:rPr lang="es-C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Jordan Restrepo Tobón</a:t>
            </a:r>
          </a:p>
        </p:txBody>
      </p:sp>
    </p:spTree>
    <p:extLst>
      <p:ext uri="{BB962C8B-B14F-4D97-AF65-F5344CB8AC3E}">
        <p14:creationId xmlns:p14="http://schemas.microsoft.com/office/powerpoint/2010/main" val="256417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470323-5BAD-41D1-99BF-FF72DCB46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MX" sz="4800" b="1" dirty="0">
                <a:latin typeface="Arial" panose="020B0604020202020204" pitchFamily="34" charset="0"/>
                <a:cs typeface="Arial" panose="020B0604020202020204" pitchFamily="34" charset="0"/>
              </a:rPr>
              <a:t>¿Qué es la memoria RAM?</a:t>
            </a:r>
            <a:endParaRPr lang="es-CO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C85229-56AF-44DE-914B-2DFAF164D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s-MX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 significa </a:t>
            </a:r>
            <a:r>
              <a:rPr lang="es-MX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es-MX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Access </a:t>
            </a:r>
            <a:r>
              <a:rPr lang="es-MX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s-MX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(Memoria de Acceso Aleatorio).</a:t>
            </a:r>
          </a:p>
          <a:p>
            <a:r>
              <a:rPr lang="es-MX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 una memoria rápida y temporal que usa el computador mientras está encendido.</a:t>
            </a:r>
          </a:p>
          <a:p>
            <a:r>
              <a:rPr lang="es-MX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Guarda datos y programas que están siendo utilizados en ese momento.</a:t>
            </a:r>
          </a:p>
          <a:p>
            <a:r>
              <a:rPr lang="es-MX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Cuando apagas el equipo, la información de la RAM se borra.</a:t>
            </a:r>
          </a:p>
          <a:p>
            <a:pPr marL="0" indent="0">
              <a:buNone/>
            </a:pPr>
            <a:br>
              <a:rPr lang="es-MX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RAM es como una mesa de trabajo donde el sistema coloca todo lo que está usando ahora mismo.</a:t>
            </a:r>
          </a:p>
          <a:p>
            <a:endParaRPr lang="es-CO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Memoria RAM - Concepto, funciones, usos y características">
            <a:extLst>
              <a:ext uri="{FF2B5EF4-FFF2-40B4-BE49-F238E27FC236}">
                <a16:creationId xmlns:a16="http://schemas.microsoft.com/office/drawing/2014/main" id="{883519FD-0A5E-4D10-830B-64984FC59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1137" y="2780068"/>
            <a:ext cx="5745646" cy="2872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7869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Windows: Ver velocidad memoria RAM | SYSADMIT">
            <a:extLst>
              <a:ext uri="{FF2B5EF4-FFF2-40B4-BE49-F238E27FC236}">
                <a16:creationId xmlns:a16="http://schemas.microsoft.com/office/drawing/2014/main" id="{818DD2E4-991A-4102-AB21-E43A62DDA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1676" y="822865"/>
            <a:ext cx="3874124" cy="2245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Nuevas funciones de Windows 10 Trabajando con ventanas">
            <a:extLst>
              <a:ext uri="{FF2B5EF4-FFF2-40B4-BE49-F238E27FC236}">
                <a16:creationId xmlns:a16="http://schemas.microsoft.com/office/drawing/2014/main" id="{21775922-165C-4494-8364-3695AA676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5498" y="3586297"/>
            <a:ext cx="3526480" cy="264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9" name="Right Triangle 2058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6029" y="623275"/>
            <a:ext cx="6570797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26FCA46-E71B-436E-A3E1-4B3893D1C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659" y="1188637"/>
            <a:ext cx="5642312" cy="1597228"/>
          </a:xfrm>
        </p:spPr>
        <p:txBody>
          <a:bodyPr>
            <a:normAutofit/>
          </a:bodyPr>
          <a:lstStyle/>
          <a:p>
            <a:r>
              <a:rPr lang="es-MX" sz="5400" b="1" dirty="0">
                <a:latin typeface="Arial" panose="020B0604020202020204" pitchFamily="34" charset="0"/>
                <a:cs typeface="Arial" panose="020B0604020202020204" pitchFamily="34" charset="0"/>
              </a:rPr>
              <a:t>¿Para qué sirve la RAM?</a:t>
            </a:r>
            <a:endParaRPr lang="es-CO"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F462E3-F93E-48A7-8F05-35FF64A8D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5660" y="2998278"/>
            <a:ext cx="4505654" cy="2728198"/>
          </a:xfrm>
        </p:spPr>
        <p:txBody>
          <a:bodyPr anchor="t">
            <a:normAutofit fontScale="92500" lnSpcReduction="10000"/>
          </a:bodyPr>
          <a:lstStyle/>
          <a:p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Ejecutar programas y aplicaciones.</a:t>
            </a:r>
          </a:p>
          <a:p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Mantener datos activos mientras trabajas.</a:t>
            </a:r>
          </a:p>
          <a:p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Permitir que el sistema operativo funcione con rapidez.</a:t>
            </a:r>
          </a:p>
          <a:p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Reducir el tiempo de carga de tareas.</a:t>
            </a:r>
          </a:p>
          <a:p>
            <a:pPr marL="0" indent="0">
              <a:buNone/>
            </a:pP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Ejemplos:</a:t>
            </a:r>
          </a:p>
          <a:p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Abrir un navegador.</a:t>
            </a:r>
          </a:p>
          <a:p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Ejecutar un videojuego.</a:t>
            </a:r>
          </a:p>
          <a:p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Editar imágenes o videos.</a:t>
            </a:r>
          </a:p>
          <a:p>
            <a:endParaRPr lang="es-CO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7948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5" name="Rectangle 7174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857579B-934E-4A4F-A8EE-CE78F5054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s-CO" sz="3700" b="1" dirty="0">
                <a:latin typeface="Arial" panose="020B0604020202020204" pitchFamily="34" charset="0"/>
                <a:cs typeface="Arial" panose="020B0604020202020204" pitchFamily="34" charset="0"/>
              </a:rPr>
              <a:t>¿Cómo usa la RAM un programa?</a:t>
            </a:r>
          </a:p>
        </p:txBody>
      </p:sp>
      <p:grpSp>
        <p:nvGrpSpPr>
          <p:cNvPr id="7177" name="Group 7176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7178" name="Rectangle 7177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79" name="Rectangle 7178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181" name="Rectangle 7180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495720-D175-45BA-ACE8-5A793D7DD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Cuando ejecutas un programa ocurre esto:</a:t>
            </a:r>
          </a:p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programa está guardado en el disco (SSD o HDD).</a:t>
            </a:r>
          </a:p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sistema operativo lo copia a la RAM.</a:t>
            </a:r>
          </a:p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procesador (CPU) trabaja con los datos desde la RAM.</a:t>
            </a:r>
          </a:p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Mientras el programa funciona, usa espacio en memoria.</a:t>
            </a:r>
          </a:p>
          <a:p>
            <a:pPr marL="0" indent="0">
              <a:buNone/>
            </a:pP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CPU casi nunca trabaja directo desde el disco porque sería muy lento.</a:t>
            </a:r>
          </a:p>
        </p:txBody>
      </p:sp>
      <p:sp>
        <p:nvSpPr>
          <p:cNvPr id="7183" name="Rectangle 7182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85" name="Rectangle 7184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 descr="Disco duro o memoria RAM? - Blog COOLMOD">
            <a:extLst>
              <a:ext uri="{FF2B5EF4-FFF2-40B4-BE49-F238E27FC236}">
                <a16:creationId xmlns:a16="http://schemas.microsoft.com/office/drawing/2014/main" id="{988CB3AC-C8EA-4A65-A556-3C20F70C30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4" r="18876" b="2"/>
          <a:stretch>
            <a:fillRect/>
          </a:stretch>
        </p:blipFill>
        <p:spPr bwMode="auto">
          <a:xfrm>
            <a:off x="5977788" y="799352"/>
            <a:ext cx="5425410" cy="5259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9191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90" name="Rectangle 3081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1" name="Right Triangle 3083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92" name="Rectangle 3085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BF7AB11-73C3-450F-983A-A560F47B3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356" y="1188637"/>
            <a:ext cx="9984615" cy="1597228"/>
          </a:xfrm>
        </p:spPr>
        <p:txBody>
          <a:bodyPr>
            <a:normAutofit fontScale="90000"/>
          </a:bodyPr>
          <a:lstStyle/>
          <a:p>
            <a:r>
              <a:rPr lang="es-MX" sz="6000" b="1" dirty="0">
                <a:latin typeface="Arial" panose="020B0604020202020204" pitchFamily="34" charset="0"/>
                <a:cs typeface="Arial" panose="020B0604020202020204" pitchFamily="34" charset="0"/>
              </a:rPr>
              <a:t>Proceso básico paso a paso</a:t>
            </a:r>
            <a:endParaRPr lang="es-CO" sz="6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7" name="Picture 5" descr="Qué es la RAM?">
            <a:extLst>
              <a:ext uri="{FF2B5EF4-FFF2-40B4-BE49-F238E27FC236}">
                <a16:creationId xmlns:a16="http://schemas.microsoft.com/office/drawing/2014/main" id="{4CE9B64A-8CAC-4C6E-B18C-7215D65A5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12" r="18822" b="-3"/>
          <a:stretch>
            <a:fillRect/>
          </a:stretch>
        </p:blipFill>
        <p:spPr bwMode="auto">
          <a:xfrm>
            <a:off x="1123357" y="3018327"/>
            <a:ext cx="3533985" cy="2728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16D0D01F-84C5-447C-BA16-1BFAF8E769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55260" y="2998278"/>
            <a:ext cx="4428236" cy="272819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 usuario abre una aplicación.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 sistema operativo asigna memoria RAM.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 cargan instrucciones y datos del programa.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 CPU ejecuta esas instrucciones.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 cerrar el programa, la RAM se libera.</a:t>
            </a:r>
          </a:p>
        </p:txBody>
      </p:sp>
    </p:spTree>
    <p:extLst>
      <p:ext uri="{BB962C8B-B14F-4D97-AF65-F5344CB8AC3E}">
        <p14:creationId xmlns:p14="http://schemas.microsoft.com/office/powerpoint/2010/main" val="3565377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04" name="Rectangle 819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8BE149F-E107-40A2-80DD-DFE5A7C3E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¿Qué pasa si no hay suficiente RAM?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06" name="Rectangle 820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3" name="Rectangle 820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055B4B-8190-4EC8-9294-98F74BF41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computador se vuelve lento.</a:t>
            </a:r>
          </a:p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sistema usa memoria virtual (parte del disco como si fuera RAM).</a:t>
            </a:r>
          </a:p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 aplicaciones pueden cerrarse o congelarse.</a:t>
            </a:r>
          </a:p>
          <a:p>
            <a:pPr marL="0" indent="0">
              <a:buNone/>
            </a:pP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Ejemplo:</a:t>
            </a:r>
            <a:b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Abrir muchos programas al mismo tiempo puede saturar la memoria.</a:t>
            </a:r>
          </a:p>
          <a:p>
            <a:endParaRPr lang="es-CO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 descr="Memoria RAM - Concepto, funciones, usos y características">
            <a:extLst>
              <a:ext uri="{FF2B5EF4-FFF2-40B4-BE49-F238E27FC236}">
                <a16:creationId xmlns:a16="http://schemas.microsoft.com/office/drawing/2014/main" id="{2A96C8E6-0CB2-4C9D-858D-8BD87AD538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11532" y="3053808"/>
            <a:ext cx="5150277" cy="2575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05" name="Rectangle 820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130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30" name="Rectangle 9222">
            <a:extLst>
              <a:ext uri="{FF2B5EF4-FFF2-40B4-BE49-F238E27FC236}">
                <a16:creationId xmlns:a16="http://schemas.microsoft.com/office/drawing/2014/main" id="{6EFC920F-B85A-4068-BD93-41064EDE9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232" name="Group 9224">
            <a:extLst>
              <a:ext uri="{FF2B5EF4-FFF2-40B4-BE49-F238E27FC236}">
                <a16:creationId xmlns:a16="http://schemas.microsoft.com/office/drawing/2014/main" id="{1C559108-BBAE-426C-8564-051D2BA6D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9226" name="Rectangle 9225">
              <a:extLst>
                <a:ext uri="{FF2B5EF4-FFF2-40B4-BE49-F238E27FC236}">
                  <a16:creationId xmlns:a16="http://schemas.microsoft.com/office/drawing/2014/main" id="{42BC35EE-6650-42D2-AEFB-4B7CD1AFC9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33" name="Rectangle 9226">
              <a:extLst>
                <a:ext uri="{FF2B5EF4-FFF2-40B4-BE49-F238E27FC236}">
                  <a16:creationId xmlns:a16="http://schemas.microsoft.com/office/drawing/2014/main" id="{0952C743-9049-4DFB-878B-2AB07B6E4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229" name="Rectangle 9228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C53384B-AF93-4815-B32A-7200F3177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425" y="1238081"/>
            <a:ext cx="4709345" cy="962953"/>
          </a:xfrm>
        </p:spPr>
        <p:txBody>
          <a:bodyPr anchor="b">
            <a:normAutofit/>
          </a:bodyPr>
          <a:lstStyle/>
          <a:p>
            <a:r>
              <a:rPr lang="es-MX" sz="2700" b="1">
                <a:latin typeface="Arial" panose="020B0604020202020204" pitchFamily="34" charset="0"/>
                <a:cs typeface="Arial" panose="020B0604020202020204" pitchFamily="34" charset="0"/>
              </a:rPr>
              <a:t>Tipos de datos que guarda un programa en RAM</a:t>
            </a:r>
            <a:endParaRPr lang="es-CO" sz="27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31" name="Rectangle 9230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39885" y="2372170"/>
            <a:ext cx="43891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ABAB0D-A167-45D8-84A5-3869A3B6F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736" y="2508105"/>
            <a:ext cx="4709345" cy="3632493"/>
          </a:xfrm>
        </p:spPr>
        <p:txBody>
          <a:bodyPr anchor="ctr">
            <a:normAutofit/>
          </a:bodyPr>
          <a:lstStyle/>
          <a:p>
            <a:r>
              <a:rPr lang="es-MX" sz="2000">
                <a:latin typeface="Times New Roman" panose="02020603050405020304" pitchFamily="18" charset="0"/>
                <a:cs typeface="Times New Roman" panose="02020603050405020304" pitchFamily="18" charset="0"/>
              </a:rPr>
              <a:t>Variables del programa.</a:t>
            </a:r>
          </a:p>
          <a:p>
            <a:r>
              <a:rPr lang="es-MX" sz="2000">
                <a:latin typeface="Times New Roman" panose="02020603050405020304" pitchFamily="18" charset="0"/>
                <a:cs typeface="Times New Roman" panose="02020603050405020304" pitchFamily="18" charset="0"/>
              </a:rPr>
              <a:t>Imágenes o archivos abiertos.</a:t>
            </a:r>
          </a:p>
          <a:p>
            <a:r>
              <a:rPr lang="es-MX" sz="2000">
                <a:latin typeface="Times New Roman" panose="02020603050405020304" pitchFamily="18" charset="0"/>
                <a:cs typeface="Times New Roman" panose="02020603050405020304" pitchFamily="18" charset="0"/>
              </a:rPr>
              <a:t>Código ejecutable.</a:t>
            </a:r>
          </a:p>
          <a:p>
            <a:r>
              <a:rPr lang="es-MX" sz="2000">
                <a:latin typeface="Times New Roman" panose="02020603050405020304" pitchFamily="18" charset="0"/>
                <a:cs typeface="Times New Roman" panose="02020603050405020304" pitchFamily="18" charset="0"/>
              </a:rPr>
              <a:t>Estados temporales del software.</a:t>
            </a:r>
          </a:p>
          <a:p>
            <a:pPr marL="0" indent="0">
              <a:buNone/>
            </a:pPr>
            <a:r>
              <a:rPr lang="es-MX" sz="2000">
                <a:latin typeface="Times New Roman" panose="02020603050405020304" pitchFamily="18" charset="0"/>
                <a:cs typeface="Times New Roman" panose="02020603050405020304" pitchFamily="18" charset="0"/>
              </a:rPr>
              <a:t>Ejemplo en programación:</a:t>
            </a:r>
          </a:p>
          <a:p>
            <a:r>
              <a:rPr lang="es-MX" sz="2000">
                <a:latin typeface="Times New Roman" panose="02020603050405020304" pitchFamily="18" charset="0"/>
                <a:cs typeface="Times New Roman" panose="02020603050405020304" pitchFamily="18" charset="0"/>
              </a:rPr>
              <a:t>Un juego guarda posiciones de personajes en RAM.</a:t>
            </a:r>
          </a:p>
          <a:p>
            <a:r>
              <a:rPr lang="es-MX" sz="2000">
                <a:latin typeface="Times New Roman" panose="02020603050405020304" pitchFamily="18" charset="0"/>
                <a:cs typeface="Times New Roman" panose="02020603050405020304" pitchFamily="18" charset="0"/>
              </a:rPr>
              <a:t>Un editor de texto guarda lo que escribes antes de guardar el archivo.</a:t>
            </a:r>
          </a:p>
          <a:p>
            <a:endParaRPr lang="es-CO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18" name="Picture 2" descr="Cómo ver qué carpetas de tu disco duro ocupan más">
            <a:extLst>
              <a:ext uri="{FF2B5EF4-FFF2-40B4-BE49-F238E27FC236}">
                <a16:creationId xmlns:a16="http://schemas.microsoft.com/office/drawing/2014/main" id="{267FC221-0E55-4138-86F6-B828AD0EB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69" r="16236" b="-2"/>
          <a:stretch>
            <a:fillRect/>
          </a:stretch>
        </p:blipFill>
        <p:spPr bwMode="auto">
          <a:xfrm>
            <a:off x="6538366" y="1383738"/>
            <a:ext cx="4929098" cy="4756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4261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4" name="Rectangle 4103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0FC574E-1257-4C43-893F-872AEFFFA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MX" sz="4800" b="1">
                <a:latin typeface="Arial" panose="020B0604020202020204" pitchFamily="34" charset="0"/>
                <a:cs typeface="Arial" panose="020B0604020202020204" pitchFamily="34" charset="0"/>
              </a:rPr>
              <a:t>Ventajas de la memoria RAM</a:t>
            </a:r>
            <a:endParaRPr lang="es-CO" sz="4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15" name="Rectangle 4105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6" name="Rectangle 410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FB6DE72-4678-4A09-BCB0-5D421018F9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3661" y="2599509"/>
            <a:ext cx="4530898" cy="36394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Acceso muy rápido a la información.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Mejora el rendimiento general.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Permite multitarea (varios programas abiertos).</a:t>
            </a:r>
          </a:p>
        </p:txBody>
      </p:sp>
      <p:pic>
        <p:nvPicPr>
          <p:cNvPr id="4099" name="Picture 3" descr="Cómo ver el rendimiento de la CPU, RAM o conexión de tu PC en tiempo real  con Windows 10 y Windows 11">
            <a:extLst>
              <a:ext uri="{FF2B5EF4-FFF2-40B4-BE49-F238E27FC236}">
                <a16:creationId xmlns:a16="http://schemas.microsoft.com/office/drawing/2014/main" id="{3C0BA014-9FC1-4044-8196-802B33D69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11532" y="2873548"/>
            <a:ext cx="5150277" cy="2935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17" name="Rectangle 4109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234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8" name="Rectangle 5127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0" name="Right Triangle 5129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32" name="Rectangle 5131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2B99245-8963-49BC-A06C-F6715D06B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356" y="1188637"/>
            <a:ext cx="9984615" cy="1597228"/>
          </a:xfrm>
        </p:spPr>
        <p:txBody>
          <a:bodyPr>
            <a:normAutofit/>
          </a:bodyPr>
          <a:lstStyle/>
          <a:p>
            <a:r>
              <a:rPr lang="es-CO" sz="5600" b="1">
                <a:latin typeface="Arial" panose="020B0604020202020204" pitchFamily="34" charset="0"/>
                <a:cs typeface="Arial" panose="020B0604020202020204" pitchFamily="34" charset="0"/>
              </a:rPr>
              <a:t>Características importantes</a:t>
            </a:r>
          </a:p>
        </p:txBody>
      </p:sp>
      <p:pic>
        <p:nvPicPr>
          <p:cNvPr id="5123" name="Picture 3" descr="Laptop How To Check Ram In Pc Windows 10 Ram Type How To Check Ram Brand">
            <a:extLst>
              <a:ext uri="{FF2B5EF4-FFF2-40B4-BE49-F238E27FC236}">
                <a16:creationId xmlns:a16="http://schemas.microsoft.com/office/drawing/2014/main" id="{F1A875B9-64BC-4343-9647-74B3378A82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61" r="15798" b="-2"/>
          <a:stretch>
            <a:fillRect/>
          </a:stretch>
        </p:blipFill>
        <p:spPr bwMode="auto">
          <a:xfrm>
            <a:off x="1123357" y="3018327"/>
            <a:ext cx="3533985" cy="2728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A9BCD2A3-C2B3-40D2-A518-E344B54B7A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55260" y="2998278"/>
            <a:ext cx="4428236" cy="272819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 volátil (se borra al apagar).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Más RAM ≠ más velocidad del CPU, pero sí mejor fluidez.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 mide en GB (8GB, 16GB, 32GB, etc.).</a:t>
            </a:r>
          </a:p>
        </p:txBody>
      </p:sp>
    </p:spTree>
    <p:extLst>
      <p:ext uri="{BB962C8B-B14F-4D97-AF65-F5344CB8AC3E}">
        <p14:creationId xmlns:p14="http://schemas.microsoft.com/office/powerpoint/2010/main" val="3413168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9" name="Rectangle 10248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44" name="Picture 4" descr="Windows 10: ¿cómo recuperar el escritorio de nuestra PC si desapareció? |  Tecnología | La República">
            <a:extLst>
              <a:ext uri="{FF2B5EF4-FFF2-40B4-BE49-F238E27FC236}">
                <a16:creationId xmlns:a16="http://schemas.microsoft.com/office/drawing/2014/main" id="{D5017A96-CA14-4357-AD8D-4BB8B22BA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1676" y="804695"/>
            <a:ext cx="3874124" cy="2282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 descr="Cómo utilizar las carpetas de biblioteca en Windows">
            <a:extLst>
              <a:ext uri="{FF2B5EF4-FFF2-40B4-BE49-F238E27FC236}">
                <a16:creationId xmlns:a16="http://schemas.microsoft.com/office/drawing/2014/main" id="{0AA7986F-591E-4C9F-8ECF-BD75D904EE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1676" y="3596367"/>
            <a:ext cx="3874124" cy="2624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51" name="Right Triangle 10250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53" name="Rectangle 1025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6029" y="623275"/>
            <a:ext cx="6570797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2893F1-0ECA-4343-965C-A9DE04A3E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659" y="1188637"/>
            <a:ext cx="5642312" cy="1597228"/>
          </a:xfrm>
        </p:spPr>
        <p:txBody>
          <a:bodyPr>
            <a:normAutofit/>
          </a:bodyPr>
          <a:lstStyle/>
          <a:p>
            <a:r>
              <a:rPr lang="es-CO" sz="5400" b="1">
                <a:latin typeface="Arial" panose="020B0604020202020204" pitchFamily="34" charset="0"/>
                <a:cs typeface="Arial" panose="020B0604020202020204" pitchFamily="34" charset="0"/>
              </a:rPr>
              <a:t>Ejemplo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9FBBED-5969-4805-8FB9-A5D7A3F50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5660" y="2998278"/>
            <a:ext cx="4505654" cy="272819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MX" sz="2200">
                <a:latin typeface="Times New Roman" panose="02020603050405020304" pitchFamily="18" charset="0"/>
                <a:cs typeface="Times New Roman" panose="02020603050405020304" pitchFamily="18" charset="0"/>
              </a:rPr>
              <a:t>Imagina:</a:t>
            </a:r>
          </a:p>
          <a:p>
            <a:r>
              <a:rPr lang="es-MX" sz="2200">
                <a:latin typeface="Times New Roman" panose="02020603050405020304" pitchFamily="18" charset="0"/>
                <a:cs typeface="Times New Roman" panose="02020603050405020304" pitchFamily="18" charset="0"/>
              </a:rPr>
              <a:t>Disco duro = Biblioteca.</a:t>
            </a:r>
          </a:p>
          <a:p>
            <a:r>
              <a:rPr lang="es-MX" sz="2200">
                <a:latin typeface="Times New Roman" panose="02020603050405020304" pitchFamily="18" charset="0"/>
                <a:cs typeface="Times New Roman" panose="02020603050405020304" pitchFamily="18" charset="0"/>
              </a:rPr>
              <a:t>RAM = Escritorio.</a:t>
            </a:r>
          </a:p>
          <a:p>
            <a:r>
              <a:rPr lang="es-MX" sz="2200">
                <a:latin typeface="Times New Roman" panose="02020603050405020304" pitchFamily="18" charset="0"/>
                <a:cs typeface="Times New Roman" panose="02020603050405020304" pitchFamily="18" charset="0"/>
              </a:rPr>
              <a:t>CPU = Persona trabajando.</a:t>
            </a:r>
          </a:p>
          <a:p>
            <a:pPr marL="0" indent="0">
              <a:buNone/>
            </a:pPr>
            <a:r>
              <a:rPr lang="es-MX" sz="2200">
                <a:latin typeface="Times New Roman" panose="02020603050405020304" pitchFamily="18" charset="0"/>
                <a:cs typeface="Times New Roman" panose="02020603050405020304" pitchFamily="18" charset="0"/>
              </a:rPr>
              <a:t>No trabajas leyendo directo de la biblioteca, primero llevas los libros al escritorio.</a:t>
            </a:r>
          </a:p>
          <a:p>
            <a:endParaRPr lang="es-CO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71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63" name="Rectangle 6155">
            <a:extLst>
              <a:ext uri="{FF2B5EF4-FFF2-40B4-BE49-F238E27FC236}">
                <a16:creationId xmlns:a16="http://schemas.microsoft.com/office/drawing/2014/main" id="{EB708185-20C0-40F2-8F2D-8EB9E34B3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165" name="Group 6157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6159" name="Rectangle 6158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66" name="Rectangle 6159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62" name="Rectangle 6161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8484A41-B89C-4927-9DDA-233501399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es-CO" sz="4000" b="1">
                <a:latin typeface="Arial" panose="020B0604020202020204" pitchFamily="34" charset="0"/>
                <a:cs typeface="Arial" panose="020B0604020202020204" pitchFamily="34" charset="0"/>
              </a:rPr>
              <a:t>Conclusión</a:t>
            </a:r>
          </a:p>
        </p:txBody>
      </p:sp>
      <p:sp>
        <p:nvSpPr>
          <p:cNvPr id="6164" name="Rectangle 6163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B7CAB39-9431-42F4-93B8-4E518BE827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55715" y="2508105"/>
            <a:ext cx="5040285" cy="363249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 RAM es esencial para ejecutar programas.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Permite acceso rápido a datos temporales.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 RAM suficiente, el sistema pierde rendimiento.</a:t>
            </a:r>
          </a:p>
        </p:txBody>
      </p:sp>
      <p:pic>
        <p:nvPicPr>
          <p:cNvPr id="6151" name="Picture 7" descr="Almacenamiento de datos - Iconos gratis de flechas">
            <a:extLst>
              <a:ext uri="{FF2B5EF4-FFF2-40B4-BE49-F238E27FC236}">
                <a16:creationId xmlns:a16="http://schemas.microsoft.com/office/drawing/2014/main" id="{BC9BA492-8C50-4030-803E-653CBF8275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01" r="2" b="831"/>
          <a:stretch>
            <a:fillRect/>
          </a:stretch>
        </p:blipFill>
        <p:spPr bwMode="auto">
          <a:xfrm>
            <a:off x="6946666" y="774285"/>
            <a:ext cx="2112264" cy="1999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7" name="Picture 3" descr="Icono De Procesador En Fondo Blanco. Icono De Cpu Ilustración del Vector -  Ilustración de eléctrico, gráfico: 225658510">
            <a:extLst>
              <a:ext uri="{FF2B5EF4-FFF2-40B4-BE49-F238E27FC236}">
                <a16:creationId xmlns:a16="http://schemas.microsoft.com/office/drawing/2014/main" id="{26B5A99A-0EE3-4975-9697-BDE7B9C8C3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3" r="2" b="2859"/>
          <a:stretch>
            <a:fillRect/>
          </a:stretch>
        </p:blipFill>
        <p:spPr bwMode="auto">
          <a:xfrm>
            <a:off x="9223523" y="774285"/>
            <a:ext cx="2112264" cy="1999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9" name="Picture 5" descr="2,2 mil resultados de imágenes, fotos de stock e ilustraciones libres de  regalías para Computer ram logo | Shutterstock">
            <a:extLst>
              <a:ext uri="{FF2B5EF4-FFF2-40B4-BE49-F238E27FC236}">
                <a16:creationId xmlns:a16="http://schemas.microsoft.com/office/drawing/2014/main" id="{80B8C3E4-0D4E-4E84-B0B9-4B7895E94F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89" r="9634" b="1"/>
          <a:stretch>
            <a:fillRect/>
          </a:stretch>
        </p:blipFill>
        <p:spPr bwMode="auto">
          <a:xfrm>
            <a:off x="6946667" y="2942704"/>
            <a:ext cx="4389120" cy="3213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0969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7446A2B-9C6E-4EE3-9EB9-BD7C8D674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84683"/>
            <a:ext cx="9144000" cy="25518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GRACIAS!</a:t>
            </a:r>
          </a:p>
        </p:txBody>
      </p:sp>
    </p:spTree>
    <p:extLst>
      <p:ext uri="{BB962C8B-B14F-4D97-AF65-F5344CB8AC3E}">
        <p14:creationId xmlns:p14="http://schemas.microsoft.com/office/powerpoint/2010/main" val="12444583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454</Words>
  <Application>Microsoft Office PowerPoint</Application>
  <PresentationFormat>Panorámica</PresentationFormat>
  <Paragraphs>64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Tema de Office</vt:lpstr>
      <vt:lpstr>¿Qué es la memoria RAM y cómo la usa un programa?</vt:lpstr>
      <vt:lpstr>¿Qué es la memoria RAM?</vt:lpstr>
      <vt:lpstr>¿Para qué sirve la RAM?</vt:lpstr>
      <vt:lpstr>¿Cómo usa la RAM un programa?</vt:lpstr>
      <vt:lpstr>Proceso básico paso a paso</vt:lpstr>
      <vt:lpstr>¿Qué pasa si no hay suficiente RAM?</vt:lpstr>
      <vt:lpstr>Tipos de datos que guarda un programa en RAM</vt:lpstr>
      <vt:lpstr>Ventajas de la memoria RAM</vt:lpstr>
      <vt:lpstr>Características importantes</vt:lpstr>
      <vt:lpstr>Ejemplo</vt:lpstr>
      <vt:lpstr>Conclusión</vt:lpstr>
      <vt:lpstr>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¿Qué es la memoria RAM y cómo la usa un programa?</dc:title>
  <dc:creator>Jordan Restrepo Tobon</dc:creator>
  <cp:lastModifiedBy>Jordan Restrepo Tobon</cp:lastModifiedBy>
  <cp:revision>2</cp:revision>
  <dcterms:created xsi:type="dcterms:W3CDTF">2026-02-12T12:24:45Z</dcterms:created>
  <dcterms:modified xsi:type="dcterms:W3CDTF">2026-02-12T22:02:39Z</dcterms:modified>
</cp:coreProperties>
</file>